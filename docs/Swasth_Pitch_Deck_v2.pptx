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The Ask:</a:t>
            </a:r>
          </a:p>
          <a:p>
            <a:r>
              <a:t>- POC is free for patients and doctors during the 90 days</a:t>
            </a:r>
          </a:p>
          <a:p>
            <a:r>
              <a:t>- Post-POC: affordable monthly subscription</a:t>
            </a:r>
          </a:p>
          <a:p>
            <a:r>
              <a:t>- Revenue-sharing model with participating doctors</a:t>
            </a:r>
          </a:p>
          <a:p>
            <a:r>
              <a:t>- No cost commitment from doctors at this stage</a:t>
            </a:r>
          </a:p>
          <a:p>
            <a:r>
              <a:t>- We provide the app, they provide the patients and clinical oversight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What's in it for you:</a:t>
            </a:r>
          </a:p>
          <a:p>
            <a:r>
              <a:t>- Advisory equity: ~0.2% per founding physician</a:t>
            </a:r>
          </a:p>
          <a:p>
            <a:r>
              <a:t>- Illustrative value: if company reaches 5cr = ~1L, 50cr = ~10L, 500cr = ~1cr</a:t>
            </a:r>
          </a:p>
          <a:p>
            <a:r>
              <a:t>- Exact terms in a formal Advisor Agreement (one-page document)</a:t>
            </a:r>
          </a:p>
          <a:p>
            <a:r>
              <a:t>- Options vest after completing the 90-day pilot</a:t>
            </a:r>
          </a:p>
          <a:p>
            <a:r>
              <a:t>- Revenue share model details to be finalized post-POC</a:t>
            </a:r>
          </a:p>
          <a:p>
            <a:r>
              <a:t>- Important: compensation is NOT tied to number of patients (NMC compliance)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9688"/>
                </a:solidFill>
                <a:latin typeface="Calibri"/>
              </a:defRPr>
            </a:pPr>
            <a:r>
              <a:t>SWASTH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Making you live a healthier and longer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29768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6B6B"/>
                </a:solidFill>
                <a:latin typeface="Calibri"/>
              </a:defRPr>
            </a:pPr>
            <a:r>
              <a:t>AI-powered health system connecting your medical devices,</a:t>
            </a:r>
            <a:br/>
            <a:r>
              <a:t>your doctor, and your family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India's silent health crisis — in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06040" cy="2743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42316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53E3E"/>
                </a:solidFill>
                <a:latin typeface="Calibri"/>
              </a:defRPr>
            </a:pPr>
            <a:r>
              <a:t>101M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2222"/>
                </a:solidFill>
                <a:latin typeface="Calibri"/>
              </a:defRPr>
            </a:pPr>
            <a:r>
              <a:t>diabetics in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9595"/>
                </a:solidFill>
                <a:latin typeface="Calibri"/>
              </a:defRPr>
            </a:pPr>
            <a:r>
              <a:t>ICMR-INDIAB-17</a:t>
            </a:r>
            <a:br/>
            <a:r>
              <a:t>Lancet, 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606040" cy="2743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00200"/>
            <a:ext cx="242316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7C00"/>
                </a:solidFill>
                <a:latin typeface="Calibri"/>
              </a:defRPr>
            </a:pPr>
            <a:r>
              <a:t>220M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51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2222"/>
                </a:solidFill>
                <a:latin typeface="Calibri"/>
              </a:defRPr>
            </a:pPr>
            <a:r>
              <a:t>with hypertension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7472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9595"/>
                </a:solidFill>
                <a:latin typeface="Calibri"/>
              </a:defRPr>
            </a:pPr>
            <a:r>
              <a:t>NFHS-5, 2021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554480"/>
            <a:ext cx="2606040" cy="2743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799" y="1600200"/>
            <a:ext cx="242316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8288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88E5"/>
                </a:solidFill>
                <a:latin typeface="Calibri"/>
              </a:defRPr>
            </a:pPr>
            <a:r>
              <a:t>47%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651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2222"/>
                </a:solidFill>
                <a:latin typeface="Calibri"/>
              </a:defRPr>
            </a:pPr>
            <a:r>
              <a:t>don't even know</a:t>
            </a:r>
            <a:br/>
            <a:r>
              <a:t>they have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47472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9595"/>
                </a:solidFill>
                <a:latin typeface="Calibri"/>
              </a:defRPr>
            </a:pPr>
            <a:r>
              <a:t>Lancet Global</a:t>
            </a:r>
            <a:br/>
            <a:r>
              <a:t>Health, 2023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554480"/>
            <a:ext cx="2606040" cy="2743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59" y="1600200"/>
            <a:ext cx="2423160" cy="54864"/>
          </a:xfrm>
          <a:prstGeom prst="rect">
            <a:avLst/>
          </a:prstGeom>
          <a:solidFill>
            <a:srgbClr val="0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18288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6D5B"/>
                </a:solidFill>
                <a:latin typeface="Calibri"/>
              </a:defRPr>
            </a:pPr>
            <a:r>
              <a:t>16.7%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651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2222"/>
                </a:solidFill>
                <a:latin typeface="Calibri"/>
              </a:defRPr>
            </a:pPr>
            <a:r>
              <a:t>actually self-monitor</a:t>
            </a:r>
            <a:br/>
            <a:r>
              <a:t>their condition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47472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9595"/>
                </a:solidFill>
                <a:latin typeface="Calibri"/>
              </a:defRPr>
            </a:pPr>
            <a:r>
              <a:t>ICMR-INDIAB-13</a:t>
            </a:r>
            <a:br/>
            <a:r>
              <a:t>Lancet D&amp;E, 2022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1106424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E53E3E"/>
                </a:solidFill>
                <a:latin typeface="Calibri"/>
              </a:defRPr>
            </a:pPr>
            <a:r>
              <a:t>Those who know lose 6-8 years of life expectancy.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A1A2E"/>
                </a:solidFill>
                <a:latin typeface="Calibri"/>
              </a:defRPr>
            </a:pPr>
            <a:r>
              <a:t>Those who don't know never get the chance to act.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009688"/>
                </a:solidFill>
                <a:latin typeface="Calibri"/>
              </a:defRPr>
            </a:pPr>
            <a:r>
              <a:t>Yet 80% of premature heart attacks and strokes are entirely preventable.  — WHO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Reducing HbA1c by just 1% lowers diabetes-related death by 21%. Active BP management reduces cardiovascular death by 43%.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Calibri"/>
              </a:defRPr>
            </a:pPr>
            <a:r>
              <a:t>THE SOLUTION — WHAT DOCTORS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Real-time visibility into your patients between visits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7498079" cy="1600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64008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D5B"/>
                </a:solidFill>
                <a:latin typeface="Calibri"/>
              </a:defRPr>
            </a:pPr>
            <a:r>
              <a:t>30-Day Trend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E3E"/>
                </a:solidFill>
                <a:latin typeface="Calibri"/>
              </a:defRPr>
            </a:pPr>
            <a:r>
              <a:t>You see patients once in 3-6 months. Between visits, you're blind.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Glucose &amp; BP trends with 7/30/90-day views. Spot an 18-day BP creep before it becomes an emergency.</a:t>
            </a:r>
          </a:p>
        </p:txBody>
      </p:sp>
      <p:pic>
        <p:nvPicPr>
          <p:cNvPr id="10" name="Picture 9" descr="30 day insight 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280160"/>
            <a:ext cx="680842" cy="1783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154680"/>
            <a:ext cx="7498079" cy="1600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64008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D5B"/>
                </a:solidFill>
                <a:latin typeface="Calibri"/>
              </a:defRPr>
            </a:pPr>
            <a:r>
              <a:t>Sync + Scan Any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E3E"/>
                </a:solidFill>
                <a:latin typeface="Calibri"/>
              </a:defRPr>
            </a:pPr>
            <a:r>
              <a:t>Patients already own glucometers and BP monitors but readings stay on the device.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Bluetooth auto-sync OR photograph any existing meter — Camera, BLE, or Manual entry. No new hardware needed.</a:t>
            </a:r>
          </a:p>
        </p:txBody>
      </p:sp>
      <p:pic>
        <p:nvPicPr>
          <p:cNvPr id="16" name="Picture 15" descr="log BP = Scan BLE Manu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063240"/>
            <a:ext cx="682988" cy="17830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48640" y="4937760"/>
            <a:ext cx="7498079" cy="1600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83480"/>
            <a:ext cx="64008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D5B"/>
                </a:solidFill>
                <a:latin typeface="Calibri"/>
              </a:defRPr>
            </a:pPr>
            <a:r>
              <a:t>AI-Powered Daily Action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3E3E"/>
                </a:solidFill>
                <a:latin typeface="Calibri"/>
              </a:defRPr>
            </a:pPr>
            <a:r>
              <a:t>You say 'reduce sugar' — patients don't know what that means day-to-day.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AI translates your prescription into daily plain-language actions: meal timing, walking, medication reminders.</a:t>
            </a:r>
          </a:p>
        </p:txBody>
      </p:sp>
      <p:pic>
        <p:nvPicPr>
          <p:cNvPr id="22" name="Picture 21" descr="dashboard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846320"/>
            <a:ext cx="672798" cy="17830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Calibri"/>
              </a:defRPr>
            </a:pPr>
            <a:r>
              <a:t>YOUR PATIENTS STAY SUPPORTED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Even when you're not there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858000" cy="22860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64008" cy="2194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5B"/>
                </a:solidFill>
                <a:latin typeface="Calibri"/>
              </a:defRPr>
            </a:pPr>
            <a:r>
              <a:t>Real-Time Family Health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3E3E"/>
                </a:solidFill>
                <a:latin typeface="Calibri"/>
              </a:defRPr>
            </a:pPr>
            <a:r>
              <a:t>Families call, hear "I'm fine", and worry. You get emergency calls that could have been prevented.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22222"/>
                </a:solidFill>
                <a:latin typeface="Calibri"/>
              </a:defRPr>
            </a:pPr>
            <a:r>
              <a:t>Up to 3 family members monitor one patient from anywhere in the world.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22222"/>
                </a:solidFill>
                <a:latin typeface="Calibri"/>
              </a:defRPr>
            </a:pPr>
            <a:r>
              <a:t>Streak tracking and points keep patients accountable between visits.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09688"/>
                </a:solidFill>
                <a:latin typeface="Calibri"/>
              </a:defRPr>
            </a:pPr>
            <a:r>
              <a:t>Family involvement increases medication adherence from 34% to 69.5%.</a:t>
            </a:r>
          </a:p>
        </p:txBody>
      </p:sp>
      <p:pic>
        <p:nvPicPr>
          <p:cNvPr id="10" name="Picture 9" descr="stre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188720"/>
            <a:ext cx="1011369" cy="2651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4023360"/>
            <a:ext cx="6858000" cy="22860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64008" cy="2194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5B"/>
                </a:solidFill>
                <a:latin typeface="Calibri"/>
              </a:defRPr>
            </a:pPr>
            <a:r>
              <a:t>Hindi + Elderly-Friendly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3E3E"/>
                </a:solidFill>
                <a:latin typeface="Calibri"/>
              </a:defRPr>
            </a:pPr>
            <a:r>
              <a:t>Your rural and elderly patients can't navigate complex apps.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22222"/>
                </a:solidFill>
                <a:latin typeface="Calibri"/>
              </a:defRPr>
            </a:pPr>
            <a:r>
              <a:t>Full Hindi interface — every label, every button, every insight.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22222"/>
                </a:solidFill>
                <a:latin typeface="Calibri"/>
              </a:defRPr>
            </a:pPr>
            <a:r>
              <a:t>Large fonts, simple icons. Daily effort: under 3 minutes.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009688"/>
                </a:solidFill>
                <a:latin typeface="Calibri"/>
              </a:defRPr>
            </a:pPr>
            <a:r>
              <a:t>The person least comfortable with tech does the least.</a:t>
            </a:r>
          </a:p>
        </p:txBody>
      </p:sp>
      <p:pic>
        <p:nvPicPr>
          <p:cNvPr id="16" name="Picture 15" descr="Porfile - Hind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840480"/>
            <a:ext cx="1027587" cy="2651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Investor conversations are underway. We need clinical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100 patients.  90 days.  Real data.  That's what closes this.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474720" cy="25603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3291840" cy="54864"/>
          </a:xfrm>
          <a:prstGeom prst="rect">
            <a:avLst/>
          </a:prstGeom>
          <a:solidFill>
            <a:srgbClr val="0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2560320"/>
            <a:ext cx="914400" cy="914400"/>
          </a:xfrm>
          <a:prstGeom prst="ellipse">
            <a:avLst/>
          </a:prstGeom>
          <a:solidFill>
            <a:srgbClr val="0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D5B"/>
                </a:solidFill>
                <a:latin typeface="Calibri"/>
              </a:defRPr>
            </a:pPr>
            <a:r>
              <a:t>YOU ENROLL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2222"/>
                </a:solidFill>
                <a:latin typeface="Calibri"/>
              </a:defRPr>
            </a:pPr>
            <a:r>
              <a:t>Refer your diabetes &amp;</a:t>
            </a:r>
            <a:br/>
            <a:r>
              <a:t>hypertension patients</a:t>
            </a:r>
            <a:br/>
            <a:r>
              <a:t>into the Swasth program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474720" cy="25603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331720"/>
            <a:ext cx="329184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0" y="2560320"/>
            <a:ext cx="914400" cy="91440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88E5"/>
                </a:solidFill>
                <a:latin typeface="Calibri"/>
              </a:defRPr>
            </a:pPr>
            <a:r>
              <a:t>PATIENTS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931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2222"/>
                </a:solidFill>
                <a:latin typeface="Calibri"/>
              </a:defRPr>
            </a:pPr>
            <a:r>
              <a:t>They track daily using</a:t>
            </a:r>
            <a:br/>
            <a:r>
              <a:t>their own devices or ours —</a:t>
            </a:r>
            <a:br/>
            <a:r>
              <a:t>Camera, Bluetooth, or Manual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474720" cy="25603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331720"/>
            <a:ext cx="3291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0" y="256032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WE 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319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2222"/>
                </a:solidFill>
                <a:latin typeface="Calibri"/>
              </a:defRPr>
            </a:pPr>
            <a:r>
              <a:t>90-day outcome data that</a:t>
            </a:r>
            <a:br/>
            <a:r>
              <a:t>brings investment to</a:t>
            </a:r>
            <a:br/>
            <a:r>
              <a:t>scale this nationwide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834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8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834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8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D5B"/>
                </a:solidFill>
                <a:latin typeface="Calibri"/>
              </a:defRPr>
            </a:pPr>
            <a:r>
              <a:t>You're not just joining a pilot — you're a founding physician.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852160"/>
            <a:ext cx="7589520" cy="594360"/>
          </a:xfrm>
          <a:prstGeom prst="round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58978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6D5B"/>
                </a:solidFill>
                <a:latin typeface="Calibri"/>
              </a:defRPr>
            </a:pPr>
            <a:r>
              <a:t>Founding team:  3 Amazon veterans  |  45+ years combined experience in Technology, Product &amp; Operations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Calibri"/>
              </a:defRPr>
            </a:pPr>
            <a:r>
              <a:t>WHAT'S IN IT FOR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926080"/>
          </a:xfrm>
          <a:prstGeom prst="round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" cy="2834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THE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A1A2E"/>
                </a:solidFill>
                <a:latin typeface="Calibri"/>
              </a:defRPr>
            </a:pPr>
            <a:r>
              <a:t>Help your patients live longer — beyond your clinic walls.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Your expertise today helps patients in your clinic. With Swasth, it reaches thousands.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222222"/>
                </a:solidFill>
                <a:latin typeface="Calibri"/>
              </a:defRPr>
            </a:pPr>
            <a:r>
              <a:t>Every protocol you help us refine saves lives you'll never meet.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006D5B"/>
                </a:solidFill>
                <a:latin typeface="Calibri"/>
              </a:defRPr>
            </a:pPr>
            <a:r>
              <a:t>Be the doctor who proved that 80% of preventable deaths can actually be prevented.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292608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64008" cy="2834640"/>
          </a:xfrm>
          <a:prstGeom prst="rect">
            <a:avLst/>
          </a:prstGeom>
          <a:solidFill>
            <a:srgbClr val="0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D5B"/>
                </a:solidFill>
                <a:latin typeface="Calibri"/>
              </a:defRPr>
            </a:pPr>
            <a:r>
              <a:t>THE 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Founding Medical Advisory Board Member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1938527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134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Stock options — vest after 90-day commitment</a:t>
            </a:r>
          </a:p>
        </p:txBody>
      </p:sp>
      <p:sp>
        <p:nvSpPr>
          <p:cNvPr id="14" name="Oval 13"/>
          <p:cNvSpPr/>
          <p:nvPr/>
        </p:nvSpPr>
        <p:spPr>
          <a:xfrm>
            <a:off x="6537960" y="2377440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523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Early advisors participate in long-term growth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2816352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9125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Full platform access — free, forever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3255264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301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  Your name on the clinical validation study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694176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3474720" cy="1645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17720"/>
            <a:ext cx="3291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88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2222"/>
                </a:solidFill>
                <a:latin typeface="Calibri"/>
              </a:defRPr>
            </a:pPr>
            <a:r>
              <a:t>Advisory Board seat</a:t>
            </a:r>
            <a:br/>
            <a:r>
              <a:t>Free platform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572000"/>
            <a:ext cx="3474720" cy="1645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617720"/>
            <a:ext cx="329184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88E5"/>
                </a:solidFill>
                <a:latin typeface="Calibri"/>
              </a:defRPr>
            </a:pPr>
            <a:r>
              <a:t>DURING THE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212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2222"/>
                </a:solidFill>
                <a:latin typeface="Calibri"/>
              </a:defRPr>
            </a:pPr>
            <a:r>
              <a:t>Monthly patient reports</a:t>
            </a:r>
            <a:br/>
            <a:r>
              <a:t>Your name on the study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572000"/>
            <a:ext cx="3474720" cy="16459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4617720"/>
            <a:ext cx="32918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WHEN WE 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212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2222"/>
                </a:solidFill>
                <a:latin typeface="Calibri"/>
              </a:defRPr>
            </a:pPr>
            <a:r>
              <a:t>Stock options mature</a:t>
            </a:r>
            <a:br/>
            <a:r>
              <a:t>Revenue share on patients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9595"/>
                </a:solidFill>
                <a:latin typeface="Calibri"/>
              </a:defRPr>
            </a:pPr>
            <a:r>
              <a:t>Stock options and detailed terms governed by a formal Advisor Agreement.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A1A2E"/>
                </a:solidFill>
                <a:latin typeface="Calibri"/>
              </a:defRPr>
            </a:pPr>
            <a:r>
              <a:t>WHAT'S NEXT —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Expanding the ecosystem after POC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572000"/>
          </a:xfrm>
          <a:prstGeom prst="round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3035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t>PHASE 1 — NOW (what we have built)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Bluetooth device sync (Glucose + BP)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597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Camera OCR — scan any existing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5973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163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Manual entry for all readings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729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AI-powered daily action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729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295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7 / 30 / 90-day trend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2958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Real-time family health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4281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Hindi + English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42816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9943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Streak tracking &amp; gamification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9431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560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AI chat — discuss with your health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126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  WhatsApp integration — patients send</a:t>
            </a:r>
            <a:br/>
            <a:r>
              <a:t>  a photo via WhatsApp, it syncs to the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12664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  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371600"/>
            <a:ext cx="5394960" cy="45720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417320"/>
            <a:ext cx="539496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7C00"/>
                </a:solidFill>
                <a:latin typeface="Calibri"/>
              </a:defRPr>
            </a:pPr>
            <a:r>
              <a:t>PHASE 2 — AFTER POC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00"/>
                </a:solidFill>
                <a:latin typeface="Calibri"/>
              </a:defRPr>
            </a:pPr>
            <a:r>
              <a:t>Smart Health Band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3957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24/7 heart rate, SpO2, steps, sleep</a:t>
            </a:r>
            <a:br/>
            <a:r>
              <a:t>— fully automatic, no patient effort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71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00"/>
                </a:solidFill>
                <a:latin typeface="Calibri"/>
              </a:defRPr>
            </a:pPr>
            <a:r>
              <a:t>Pharmacy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2644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Medication delivered to patient's door</a:t>
            </a:r>
            <a:br/>
            <a:r>
              <a:t>through integrated pharmacy network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8404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00"/>
                </a:solidFill>
                <a:latin typeface="Calibri"/>
              </a:defRPr>
            </a:pPr>
            <a:r>
              <a:t>Doctor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133087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Dedicated dashboard for physicians</a:t>
            </a:r>
            <a:br/>
            <a:r>
              <a:t>to manage all Swasth patients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7091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00"/>
                </a:solidFill>
                <a:latin typeface="Calibri"/>
              </a:defRPr>
            </a:pPr>
            <a:r>
              <a:t>Monthly Doctor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001767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Auto-generated health summaries</a:t>
            </a:r>
            <a:br/>
            <a:r>
              <a:t>delivered to the physician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577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00"/>
                </a:solidFill>
                <a:latin typeface="Calibri"/>
              </a:defRPr>
            </a:pPr>
            <a:r>
              <a:t>Expanded Language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8704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Regional languages beyond Hindi</a:t>
            </a:r>
            <a:br/>
            <a:r>
              <a:t>for pan-India coverage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9688"/>
                </a:solidFill>
                <a:latin typeface="Calibri"/>
              </a:defRPr>
            </a:pPr>
            <a:r>
              <a:t>SWASTH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1A2E"/>
                </a:solidFill>
                <a:latin typeface="Calibri"/>
              </a:defRPr>
            </a:pPr>
            <a:r>
              <a:t>Making you live a healthier and longer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D5B"/>
                </a:solidFill>
                <a:latin typeface="Calibri"/>
              </a:defRPr>
            </a:pPr>
            <a:r>
              <a:t>100 patients.  90 days.  Let's prove this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572000"/>
            <a:ext cx="576072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4617720"/>
            <a:ext cx="57607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7548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A1A2E"/>
                </a:solidFill>
                <a:latin typeface="Calibri"/>
              </a:defRPr>
            </a:pPr>
            <a:r>
              <a:t>[Your Name]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[Email]  |  [Phone]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009688"/>
                </a:solidFill>
                <a:latin typeface="Calibri"/>
              </a:defRPr>
            </a:pPr>
            <a:r>
              <a:t>www.swasth.health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