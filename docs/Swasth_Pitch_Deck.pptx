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9688"/>
                </a:solidFill>
                <a:latin typeface="Calibri"/>
              </a:defRPr>
            </a:pPr>
            <a:r>
              <a:t>SWASTH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A1A2E"/>
                </a:solidFill>
                <a:latin typeface="Calibri"/>
              </a:defRPr>
            </a:pPr>
            <a:r>
              <a:t>The World's First Integrated Device + AI Health Ecosystem</a:t>
            </a:r>
            <a:br/>
            <a:r>
              <a:t>for Diabetes &amp; Hypertension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Calibri"/>
              </a:defRPr>
            </a:pPr>
            <a:r>
              <a:t>Helping 1.5 billion people live measurably longer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Confidential  | 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5486400"/>
            <a:ext cx="3931920" cy="914400"/>
          </a:xfrm>
          <a:prstGeom prst="rect">
            <a:avLst/>
          </a:prstGeom>
          <a:solidFill>
            <a:srgbClr val="E0E0E0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56692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[INSERT APP LOGO / HERO IMAGE]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88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53E3E"/>
                </a:solidFill>
                <a:latin typeface="Calibri"/>
              </a:defRPr>
            </a:pPr>
            <a:r>
              <a:t>1.5B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people live with</a:t>
            </a:r>
            <a:br/>
            <a:r>
              <a:t>diabetes + hypertension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371600"/>
            <a:ext cx="25603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54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9800"/>
                </a:solidFill>
                <a:latin typeface="Calibri"/>
              </a:defRPr>
            </a:pPr>
            <a:r>
              <a:t>6-8 yrs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of life lost to</a:t>
            </a:r>
            <a:br/>
            <a:r>
              <a:t>uncontrolled diabetes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25603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88E5"/>
                </a:solidFill>
                <a:latin typeface="Calibri"/>
              </a:defRPr>
            </a:pPr>
            <a:r>
              <a:t>60%+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patients have BOTH</a:t>
            </a:r>
            <a:br/>
            <a:r>
              <a:t>conditions simultaneously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371600"/>
            <a:ext cx="25603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554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3A047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of heart attacks &amp; strokes</a:t>
            </a:r>
            <a:br/>
            <a:r>
              <a:t>are preventable (WHO)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A1A2E"/>
                </a:solidFill>
                <a:latin typeface="Calibri"/>
              </a:defRPr>
            </a:pPr>
            <a:r>
              <a:t>The medical knowledge to save these lives exists.</a:t>
            </a:r>
          </a:p>
          <a:p>
            <a:pPr algn="l">
              <a:spcAft>
                <a:spcPts val="600"/>
              </a:spcAft>
              <a:defRPr sz="2200" b="1">
                <a:solidFill>
                  <a:srgbClr val="009688"/>
                </a:solidFill>
                <a:latin typeface="Calibri"/>
              </a:defRPr>
            </a:pPr>
            <a:r>
              <a:t>What's missing is a system that puts it into daily action.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Patients check their sugar once, see a number, and do nothing with it. Doctors see patients once every 3-6 months and have zero visibility in between. Families call, hear "I'm fine", and worry.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88"/>
                </a:solidFill>
                <a:latin typeface="Calibri"/>
              </a:defRPr>
            </a:pPr>
            <a:r>
              <a:t>THE SOLUTION — SWASTH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9184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96B"/>
                </a:solidFill>
                <a:latin typeface="Calibri"/>
              </a:defRPr>
            </a:pPr>
            <a:r>
              <a:t>Blood Glucose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286000"/>
            <a:ext cx="2560320" cy="1371600"/>
          </a:xfrm>
          <a:prstGeom prst="rect">
            <a:avLst/>
          </a:prstGeom>
          <a:solidFill>
            <a:srgbClr val="E0E0E0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[SCREENSHOT: Blood Glucose Monitor]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Bluetooth glucometer syncs</a:t>
            </a:r>
            <a:br/>
            <a:r>
              <a:t>readings instantly to the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29184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5544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96B"/>
                </a:solidFill>
                <a:latin typeface="Calibri"/>
              </a:defRPr>
            </a:pPr>
            <a:r>
              <a:t>Blood Pressure Monitor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19" y="2286000"/>
            <a:ext cx="2560320" cy="1371600"/>
          </a:xfrm>
          <a:prstGeom prst="rect">
            <a:avLst/>
          </a:prstGeom>
          <a:solidFill>
            <a:srgbClr val="E0E0E0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19" y="2697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[SCREENSHOT: Blood Pressure Monitor]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Upper-arm BP monitor with</a:t>
            </a:r>
            <a:br/>
            <a:r>
              <a:t>auto-sync after each reading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29184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96B"/>
                </a:solidFill>
                <a:latin typeface="Calibri"/>
              </a:defRPr>
            </a:pPr>
            <a:r>
              <a:t>Smart Health Band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2286000"/>
            <a:ext cx="2560320" cy="1371600"/>
          </a:xfrm>
          <a:prstGeom prst="rect">
            <a:avLst/>
          </a:prstGeom>
          <a:solidFill>
            <a:srgbClr val="E0E0E0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697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[SCREENSHOT: Smart Health Band]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24/7 heart rate, SpO2,</a:t>
            </a:r>
            <a:br/>
            <a:r>
              <a:t>steps, sleep — fully automatic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88"/>
                </a:solidFill>
                <a:latin typeface="Calibri"/>
              </a:defRPr>
            </a:pPr>
            <a:r>
              <a:t>3 devices  --&gt;  1 AI engine  --&gt;  Daily action plan  --&gt;  Longer life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760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Setup: under 5 minutes. Daily effort: under 3 minutes. Works in Hindi &amp; English.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88"/>
                </a:solidFill>
                <a:latin typeface="Calibri"/>
              </a:defRPr>
            </a:pPr>
            <a:r>
              <a:t>HOW IT WORKS — THE AI ENGINE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37160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96B"/>
                </a:solidFill>
                <a:latin typeface="Calibri"/>
              </a:defRPr>
            </a:pPr>
            <a:r>
              <a:t>MEASURE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Glucose, BP, heart rate,</a:t>
            </a:r>
            <a:br/>
            <a:r>
              <a:t>sleep, steps — all auto-synced</a:t>
            </a:r>
          </a:p>
        </p:txBody>
      </p:sp>
      <p:sp>
        <p:nvSpPr>
          <p:cNvPr id="7" name="Oval 6"/>
          <p:cNvSpPr/>
          <p:nvPr/>
        </p:nvSpPr>
        <p:spPr>
          <a:xfrm>
            <a:off x="4297680" y="137160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96B"/>
                </a:solidFill>
                <a:latin typeface="Calibri"/>
              </a:defRPr>
            </a:pPr>
            <a: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0175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AI sees the full picture:</a:t>
            </a:r>
            <a:br/>
            <a:r>
              <a:t>why your number is what it is</a:t>
            </a:r>
          </a:p>
        </p:txBody>
      </p:sp>
      <p:sp>
        <p:nvSpPr>
          <p:cNvPr id="10" name="Oval 9"/>
          <p:cNvSpPr/>
          <p:nvPr/>
        </p:nvSpPr>
        <p:spPr>
          <a:xfrm>
            <a:off x="7223760" y="137160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96B"/>
                </a:solidFill>
                <a:latin typeface="Calibri"/>
              </a:defRPr>
            </a:pPr>
            <a:r>
              <a:t>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0175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"Eat dinner by 8 PM,</a:t>
            </a:r>
            <a:br/>
            <a:r>
              <a:t>walk 20 min after lunch,</a:t>
            </a:r>
            <a:br/>
            <a:r>
              <a:t>meds at 8 PM"</a:t>
            </a:r>
          </a:p>
        </p:txBody>
      </p:sp>
      <p:sp>
        <p:nvSpPr>
          <p:cNvPr id="13" name="Oval 12"/>
          <p:cNvSpPr/>
          <p:nvPr/>
        </p:nvSpPr>
        <p:spPr>
          <a:xfrm>
            <a:off x="10149840" y="137160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96B"/>
                </a:solidFill>
                <a:latin typeface="Calibri"/>
              </a:defRPr>
            </a:pPr>
            <a:r>
              <a:t>IMPROVE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0175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Daily feedback loop:</a:t>
            </a:r>
            <a:br/>
            <a:r>
              <a:t>act, measure, learn, repeat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A1A2E"/>
                </a:solidFill>
                <a:latin typeface="Calibri"/>
              </a:defRPr>
            </a:pPr>
            <a:r>
              <a:t>Built on published clinical protocols (Lancet, SPRINT trial, WHO guidelines)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Every recommendation reviewed by licensed physicians</a:t>
            </a:r>
          </a:p>
          <a:p>
            <a:pPr algn="l">
              <a:spcAft>
                <a:spcPts val="600"/>
              </a:spcAft>
              <a:defRPr sz="1600" b="1">
                <a:solidFill>
                  <a:srgbClr val="009688"/>
                </a:solidFill>
                <a:latin typeface="Calibri"/>
              </a:defRPr>
            </a:pPr>
            <a:r>
              <a:t>Not generic advice — specific daily actions personalized to YOUR data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"Reducing HbA1c by 1% lowers diabetes-related death by 21%. Managing BP actively reduces cardiovascular death by 43%."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4389120"/>
            <a:ext cx="3017520" cy="2011680"/>
          </a:xfrm>
          <a:prstGeom prst="rect">
            <a:avLst/>
          </a:prstGeom>
          <a:solidFill>
            <a:srgbClr val="E0E0E0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5120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[SCREENSHOT: AI Daily Action Plan]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88"/>
                </a:solidFill>
                <a:latin typeface="Calibri"/>
              </a:defRPr>
            </a:pPr>
            <a:r>
              <a:t>THE APP — 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14884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96B"/>
                </a:solidFill>
                <a:latin typeface="Calibri"/>
              </a:defRPr>
            </a:pPr>
            <a:r>
              <a:t>Health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1874519" cy="2743200"/>
          </a:xfrm>
          <a:prstGeom prst="rect">
            <a:avLst/>
          </a:prstGeom>
          <a:solidFill>
            <a:srgbClr val="E0E0E0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01752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[SCREENSHOT:</a:t>
            </a:r>
            <a:br/>
            <a:r>
              <a:t>Home Dashboard]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Unified view of all</a:t>
            </a:r>
            <a:br/>
            <a:r>
              <a:t>metrics in one place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79" y="1188720"/>
            <a:ext cx="214884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13716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96B"/>
                </a:solidFill>
                <a:latin typeface="Calibri"/>
              </a:defRPr>
            </a:pPr>
            <a:r>
              <a:t>Trend 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39" y="1920240"/>
            <a:ext cx="1874519" cy="2743200"/>
          </a:xfrm>
          <a:prstGeom prst="rect">
            <a:avLst/>
          </a:prstGeom>
          <a:solidFill>
            <a:srgbClr val="E0E0E0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39" y="301752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[SCREENSHOT:</a:t>
            </a:r>
            <a:br/>
            <a:r>
              <a:t>Trend Charts]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19" y="484632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7/30-day glucose &amp; BP</a:t>
            </a:r>
            <a:br/>
            <a:r>
              <a:t>trends with correlation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188720"/>
            <a:ext cx="214884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3716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96B"/>
                </a:solidFill>
                <a:latin typeface="Calibri"/>
              </a:defRPr>
            </a:pPr>
            <a:r>
              <a:t>AI Coaching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1920240"/>
            <a:ext cx="1874519" cy="2743200"/>
          </a:xfrm>
          <a:prstGeom prst="rect">
            <a:avLst/>
          </a:prstGeom>
          <a:solidFill>
            <a:srgbClr val="E0E0E0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301752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[SCREENSHOT:</a:t>
            </a:r>
            <a:br/>
            <a:r>
              <a:t>AI Insights]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84632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Daily personalized</a:t>
            </a:r>
            <a:br/>
            <a:r>
              <a:t>action plans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19" y="1188720"/>
            <a:ext cx="214884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19" y="13716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96B"/>
                </a:solidFill>
                <a:latin typeface="Calibri"/>
              </a:defRPr>
            </a:pPr>
            <a:r>
              <a:t>Food Intelligence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1920240"/>
            <a:ext cx="1874519" cy="2743200"/>
          </a:xfrm>
          <a:prstGeom prst="rect">
            <a:avLst/>
          </a:prstGeom>
          <a:solidFill>
            <a:srgbClr val="E0E0E0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301752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[SCREENSHOT:</a:t>
            </a:r>
            <a:br/>
            <a:r>
              <a:t>Food Analysis]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59" y="484632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Photo your plate -</a:t>
            </a:r>
            <a:br/>
            <a:r>
              <a:t>500+ Indian dishes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1188720"/>
            <a:ext cx="214884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13716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96B"/>
                </a:solidFill>
                <a:latin typeface="Calibri"/>
              </a:defRPr>
            </a:pPr>
            <a:r>
              <a:t>Family Monitoring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9800" y="1920240"/>
            <a:ext cx="1874519" cy="2743200"/>
          </a:xfrm>
          <a:prstGeom prst="rect">
            <a:avLst/>
          </a:prstGeom>
          <a:solidFill>
            <a:srgbClr val="E0E0E0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301752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[SCREENSHOT:</a:t>
            </a:r>
            <a:br/>
            <a:r>
              <a:t>Family View]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484632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Real-time dashboard</a:t>
            </a:r>
            <a:br/>
            <a:r>
              <a:t>for up to 3 members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88"/>
                </a:solidFill>
                <a:latin typeface="Calibri"/>
              </a:defRPr>
            </a:pPr>
            <a:r>
              <a:t>FOR DOCTORS — YOUR EXTENDED 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"How do you know what's happening to your chronic patients between visits?"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73152" cy="8229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96B"/>
                </a:solidFill>
                <a:latin typeface="Calibri"/>
              </a:defRPr>
            </a:pPr>
            <a:r>
              <a:t>Catch problems months earlier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One physician spotted an 18-day BP creep she wouldn't have found until the next appointment. Adjusted meds remotely that evening.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73152" cy="8229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96B"/>
                </a:solidFill>
                <a:latin typeface="Calibri"/>
              </a:defRPr>
            </a:pPr>
            <a:r>
              <a:t>Zero extra work for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Patients measure at home, the system compiles a monthly report and delivers it to you. Review when convenient.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79"/>
            <a:ext cx="73152" cy="8229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7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96B"/>
                </a:solidFill>
                <a:latin typeface="Calibri"/>
              </a:defRPr>
            </a:pPr>
            <a:r>
              <a:t>Your guidance actually gets followed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6343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AI translates your prescription into daily plain-language nudges — meal timing, walking, medication reminders — in Hindi or English.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94959"/>
            <a:ext cx="73152" cy="8229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9495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96B"/>
                </a:solidFill>
                <a:latin typeface="Calibri"/>
              </a:defRPr>
            </a:pPr>
            <a:r>
              <a:t>You stay in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76071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AI gives lifestyle coaching only, built on published clinical protocols. Never diagnoses. Never overrides you.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188720"/>
            <a:ext cx="3931920" cy="2743200"/>
          </a:xfrm>
          <a:prstGeom prst="rect">
            <a:avLst/>
          </a:prstGeom>
          <a:solidFill>
            <a:srgbClr val="E0E0E0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2860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[SCREENSHOT:</a:t>
            </a:r>
            <a:br/>
            <a:r>
              <a:t>Monthly Doctor Report</a:t>
            </a:r>
            <a:br/>
            <a:r>
              <a:t>or Doctor Portal]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4206240"/>
            <a:ext cx="3931920" cy="2011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43891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"Across my 47 Swasth patients, the system flagged a patient whose BP had been creeping upward for 18 days — I would normally have discovered this 2 months later."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200" b="1">
                <a:solidFill>
                  <a:srgbClr val="00796B"/>
                </a:solidFill>
                <a:latin typeface="Calibri"/>
              </a:defRPr>
            </a:pPr>
            <a:r>
              <a:t>— Dr. Anita Reddy, Hyderabad</a:t>
            </a:r>
            <a:br/>
            <a:r>
              <a:t>     22 years of practice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88"/>
                </a:solidFill>
                <a:latin typeface="Calibri"/>
              </a:defRPr>
            </a:pPr>
            <a:r>
              <a:t>FOR PATIENTS &amp;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96B"/>
                </a:solidFill>
                <a:latin typeface="Calibri"/>
              </a:defRPr>
            </a:pPr>
            <a:r>
              <a:t>For Patients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  You already check your sugar &amp; BP — Swasth makes those numbers useful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  Tells you EXACTLY what to do today: eat dinner by 8, walk 20 min, meds at 8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  Works in Hindi, large fonts — band is fully automatic once you wear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  Daily effort: under 3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931920"/>
            <a:ext cx="3657600" cy="2286000"/>
          </a:xfrm>
          <a:prstGeom prst="rect">
            <a:avLst/>
          </a:prstGeom>
          <a:solidFill>
            <a:srgbClr val="E0E0E0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800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[SCREENSHOT: Patient Dashboard</a:t>
            </a:r>
            <a:br/>
            <a:r>
              <a:t>with Hindi language toggle]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27432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96B"/>
                </a:solidFill>
                <a:latin typeface="Calibri"/>
              </a:defRPr>
            </a:pPr>
            <a:r>
              <a:t>For Families Abroad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828800"/>
            <a:ext cx="5029200" cy="2286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92024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"My father has had diabetes for 11 years. For 6 years, every phone call was the same — I ask about his health, he says he's fine, and I hang up not knowing if that's true."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  <a:r>
              <a:t>"Within the first week, I saw his fasting sugar was consistently above 170 — not 140 as he'd been telling me. In 3 weeks, it dropped to 138. His doctor says his numbers are the best in 4 years."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300" b="1">
                <a:solidFill>
                  <a:srgbClr val="00796B"/>
                </a:solidFill>
                <a:latin typeface="Calibri"/>
              </a:defRPr>
            </a:pPr>
            <a:r>
              <a:t>— Priya Menon, 34, Singapore</a:t>
            </a:r>
            <a:br/>
            <a:r>
              <a:t>     Parents in Kochi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4389120"/>
            <a:ext cx="4572000" cy="1828800"/>
          </a:xfrm>
          <a:prstGeom prst="rect">
            <a:avLst/>
          </a:prstGeom>
          <a:solidFill>
            <a:srgbClr val="E0E0E0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5029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[SCREENSHOT: Family Monitoring Dashboard]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88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9184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3E3E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53E3E"/>
                </a:solidFill>
                <a:latin typeface="Calibri"/>
              </a:defRPr>
            </a:pPr>
            <a:r>
              <a:t>1.5B+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People with diabetes &amp;</a:t>
            </a:r>
            <a:br/>
            <a:r>
              <a:t>hypertension globally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329184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800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1828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9800"/>
                </a:solidFill>
                <a:latin typeface="Calibri"/>
              </a:defRPr>
            </a:pPr>
            <a:r>
              <a:t>100M+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651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India — diabetes &amp;</a:t>
            </a:r>
            <a:br/>
            <a:r>
              <a:t>hypertension patients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29184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3A047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3A047"/>
                </a:solidFill>
                <a:latin typeface="Calibri"/>
              </a:defRPr>
            </a:pPr>
            <a:r>
              <a:t>Bihar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51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First deployment:</a:t>
            </a:r>
            <a:br/>
            <a:r>
              <a:t>real-world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00796B"/>
                </a:solidFill>
                <a:latin typeface="Calibri"/>
              </a:defRPr>
            </a:pPr>
            <a:r>
              <a:t>Why now?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Growing smartphone penetration in emerging markets + affordable BLE medical devices + LLM-powered AI coaching = first time this system is possible at this price point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No competitor integrates medical devices + AI coaching + family monitoring + doctor reports + pharmacy delivery in one ecosystem. Apple Watch and Fitbit don't measure glucose or BP. Standalone devices show numbers with no intelligence.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88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651760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Swasth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One-time hardware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65176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3 BLE devices + accessories</a:t>
            </a:r>
            <a:br/>
            <a:r>
              <a:t>No-cost EMI available</a:t>
            </a:r>
            <a:br/>
            <a:r>
              <a:t>Ships directly to parents in India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188720"/>
            <a:ext cx="2651760" cy="6400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34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Free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554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Device sync + basics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828800"/>
            <a:ext cx="265176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0116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Device syncing</a:t>
            </a:r>
            <a:br/>
            <a:r>
              <a:t>Unified dashboard</a:t>
            </a:r>
            <a:br/>
            <a:r>
              <a:t>Basic trend charts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2651760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34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Health+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554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AI-powered coaching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828800"/>
            <a:ext cx="265176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116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AI daily action plans</a:t>
            </a:r>
            <a:br/>
            <a:r>
              <a:t>Photo food intelligence (500+ dishes)</a:t>
            </a:r>
            <a:br/>
            <a:r>
              <a:t>Medication management</a:t>
            </a:r>
            <a:br/>
            <a:r>
              <a:t>Health Vault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188720"/>
            <a:ext cx="2651760" cy="6400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234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Family Care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554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Complete ecosystem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828800"/>
            <a:ext cx="265176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20116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Everything in Health+</a:t>
            </a:r>
            <a:br/>
            <a:r>
              <a:t>Family monitoring (up to 3)</a:t>
            </a:r>
            <a:br/>
            <a:r>
              <a:t>Monthly doctor reports</a:t>
            </a:r>
            <a:br/>
            <a:r>
              <a:t>Pharmacy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796B"/>
                </a:solidFill>
                <a:latin typeface="Calibri"/>
              </a:defRPr>
            </a:pPr>
            <a:r>
              <a:t>Subscription-led recurring revenue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As users accumulate longitudinal health data, the AI becomes more personalized and the product becomes more indispensable — driving retention and reducing churn.</a:t>
            </a:r>
          </a:p>
          <a:p>
            <a:pPr algn="l">
              <a:spcAft>
                <a:spcPts val="600"/>
              </a:spcAft>
              <a:defRPr sz="1500" b="1">
                <a:solidFill>
                  <a:srgbClr val="1A1A2E"/>
                </a:solidFill>
                <a:latin typeface="Calibri"/>
              </a:defRPr>
            </a:pPr>
            <a:r>
              <a:t>Expansion: Southeast Asia &amp; Sub-Saharan Africa within 12 months of India launch.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88"/>
                </a:solidFill>
                <a:latin typeface="Calibri"/>
              </a:defRPr>
            </a:pPr>
            <a:r>
              <a:t>EARLY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73152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96B"/>
                </a:solidFill>
                <a:latin typeface="Calibri"/>
              </a:defRPr>
            </a:pPr>
            <a:r>
              <a:t>Rajesh Kumar, 58</a:t>
            </a:r>
            <a:br/>
            <a:r>
              <a:t>Lucknow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173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Fasting sugar: 162 --&gt; 131</a:t>
            </a:r>
            <a:br/>
            <a:r>
              <a:t>in one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417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Doctor reviewed Swasth report</a:t>
            </a:r>
            <a:br/>
            <a:r>
              <a:t>and reduced one medication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73152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96B"/>
                </a:solidFill>
                <a:latin typeface="Calibri"/>
              </a:defRPr>
            </a:pPr>
            <a:r>
              <a:t>Priya Menon's father</a:t>
            </a:r>
            <a:br/>
            <a:r>
              <a:t>Kochi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063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Fasting sugar: 170+ --&gt; 138</a:t>
            </a:r>
            <a:br/>
            <a:r>
              <a:t>in three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0632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"His numbers are the best</a:t>
            </a:r>
            <a:br/>
            <a:r>
              <a:t>in 4 years" — his doctor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105156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572000"/>
            <a:ext cx="73152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091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96B"/>
                </a:solidFill>
                <a:latin typeface="Calibri"/>
              </a:defRPr>
            </a:pPr>
            <a:r>
              <a:t>Dr. Anita Reddy</a:t>
            </a:r>
            <a:br/>
            <a:r>
              <a:t>Hyderabad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7091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Flagged 18-day BP creep</a:t>
            </a:r>
            <a:br/>
            <a:r>
              <a:t>across 47 patients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709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Adjusted prescription remotely</a:t>
            </a:r>
            <a:br/>
            <a:r>
              <a:t>that same evening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A1A2E"/>
                </a:solidFill>
                <a:latin typeface="Calibri"/>
              </a:defRPr>
            </a:pPr>
            <a:r>
              <a:t>Clinical literature confirms: consistent connected monitoring can reduce HbA1c by 1-2% and lower BP by 10-15 mmHg — adding years of life expectancy.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88"/>
                </a:solidFill>
                <a:latin typeface="Calibri"/>
              </a:defRPr>
            </a:pPr>
            <a:r>
              <a:t>PRODUCT — LIVE APP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291840" cy="2560320"/>
          </a:xfrm>
          <a:prstGeom prst="rect">
            <a:avLst/>
          </a:prstGeom>
          <a:solidFill>
            <a:srgbClr val="E0E0E0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[SCREENSHOT:</a:t>
            </a:r>
            <a:br/>
            <a:r>
              <a:t>Login / Onboarding]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59" y="1188720"/>
            <a:ext cx="3291840" cy="2560320"/>
          </a:xfrm>
          <a:prstGeom prst="rect">
            <a:avLst/>
          </a:prstGeom>
          <a:solidFill>
            <a:srgbClr val="E0E0E0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59" y="2194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[SCREENSHOT:</a:t>
            </a:r>
            <a:br/>
            <a:r>
              <a:t>Health Dashboard]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188720"/>
            <a:ext cx="3291840" cy="2560320"/>
          </a:xfrm>
          <a:prstGeom prst="rect">
            <a:avLst/>
          </a:prstGeom>
          <a:solidFill>
            <a:srgbClr val="E0E0E0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[SCREENSHOT:</a:t>
            </a:r>
            <a:br/>
            <a:r>
              <a:t>Glucose Trend Chart]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3291840" cy="2560320"/>
          </a:xfrm>
          <a:prstGeom prst="rect">
            <a:avLst/>
          </a:prstGeom>
          <a:solidFill>
            <a:srgbClr val="E0E0E0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[SCREENSHOT:</a:t>
            </a:r>
            <a:br/>
            <a:r>
              <a:t>BP Trend Chart]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4023360"/>
            <a:ext cx="3291840" cy="2560320"/>
          </a:xfrm>
          <a:prstGeom prst="rect">
            <a:avLst/>
          </a:prstGeom>
          <a:solidFill>
            <a:srgbClr val="E0E0E0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5029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[SCREENSHOT:</a:t>
            </a:r>
            <a:br/>
            <a:r>
              <a:t>AI Health Insights]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023360"/>
            <a:ext cx="3291840" cy="2560320"/>
          </a:xfrm>
          <a:prstGeom prst="rect">
            <a:avLst/>
          </a:prstGeom>
          <a:solidFill>
            <a:srgbClr val="E0E0E0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5029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[SCREENSHOT:</a:t>
            </a:r>
            <a:br/>
            <a:r>
              <a:t>Settings / Profile]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9688"/>
                </a:solidFill>
                <a:latin typeface="Calibri"/>
              </a:defRPr>
            </a:pPr>
            <a:r>
              <a:t>SWASTH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1A2E"/>
                </a:solidFill>
                <a:latin typeface="Calibri"/>
              </a:defRPr>
            </a:pPr>
            <a:r>
              <a:t>Helping people with diabetes &amp; hypertension live measurably longer.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0312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00796B"/>
                </a:solidFill>
                <a:latin typeface="Calibri"/>
              </a:defRPr>
            </a:pPr>
            <a:r>
              <a:t>For Doctors: Join the Bihar Pilot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Be among the first physicians with 24/7 visibility into your chronic patients' health.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1A1A2E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2200" b="1">
                <a:solidFill>
                  <a:srgbClr val="00796B"/>
                </a:solidFill>
                <a:latin typeface="Calibri"/>
              </a:defRPr>
            </a:pPr>
            <a:r>
              <a:t>For Investors: Let's Talk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Subscription-led, data-compounding health ecosystem for 1.5B underserved patients.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  <a:latin typeface="Calibri"/>
              </a:defRPr>
            </a:pPr>
            <a:r>
              <a:t>[Your Name]  |  [email]  |  [phone]  |  www.swasth.health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